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 i="0">
                <a:solidFill>
                  <a:srgbClr val="F0F0F0"/>
                </a:solidFill>
              </a:defRPr>
            </a:pPr>
            <a:r>
              <a:t>Nova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 i="0">
                <a:solidFill>
                  <a:srgbClr val="CCCCCC"/>
                </a:solidFill>
              </a:defRPr>
            </a:pPr>
            <a:r>
              <a:t>BRAINSTORM-OKRS  ·  2026-03-21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E94F37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◈  Nova Platform 2026 Q2 Goal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▷  Objective 1: 신규 유저 온보딩 경험 혁신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▷  Objective 2: 신규 도메인 데이터 통합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▷  Objective 3: Databricks 기반 아키텍처 전환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◆  Key Results 전체 현황</a:t>
            </a:r>
          </a:p>
          <a:p>
            <a:pPr>
              <a:spcBef>
                <a:spcPts val="500"/>
              </a:spcBef>
              <a:defRPr sz="1900">
                <a:solidFill>
                  <a:srgbClr val="A8D8EA"/>
                </a:solidFill>
              </a:defRPr>
            </a:pPr>
            <a:r>
              <a:t>  ⊕  KPI &amp; 달성도 산출 수식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E94F37"/>
                </a:solidFill>
              </a:defRPr>
            </a:pPr>
            <a:r>
              <a:t>Nova Platform 2026 Q2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F0F0F0"/>
                </a:solidFill>
              </a:defRPr>
            </a:pPr>
            <a:r>
              <a:t>Nova Platform을 신뢰할 수 있는 기반 위에서 확장하여, 사용자에게 혁신적인 다중 도메인 분석 가치를 제공한다.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377440"/>
            <a:ext cx="12188952" cy="6400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A8D8EA"/>
                </a:solidFill>
              </a:defRPr>
            </a:pPr>
            <a:r>
              <a:t>아키텍처 전환을 통해 인프라 기반을 안정화하고, 신규 도메인 통합으로 플랫폼 가치를 확장하며, 유저 유입 및 Help Center를 통해 그 가치를 사용자에게 효과적으로 연결하는 3층 구조로 나아갑니다.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06984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0F0F0"/>
                </a:solidFill>
              </a:defRPr>
            </a:pPr>
            <a:r>
              <a:t>" 사용자 활성화, 도메인 확장, 엔진 재건. 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Objective 1: 신규 유저 온보딩 경험 혁신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F0F0F0"/>
                </a:solidFill>
              </a:defRPr>
            </a:pPr>
            <a:r>
              <a:t>Nova Platform의 신규 유저 온보딩 경험을 혁신하여, 첫 접속 후 핵심 가치를 30분 내 체험할 수 있는 환경을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E94F37"/>
                </a:solidFill>
              </a:defRPr>
            </a:pPr>
            <a: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A8D8EA"/>
                </a:solidFill>
              </a:defRPr>
            </a:pPr>
            <a:r>
              <a:t>플랫폼 성장 초기 단계에서 유저 획득보다 활성화(Activation)가 더 높은 ROI를 보입니다. 신규 유저가 첫 세션에서 'Aha-moment'를 경험하면 7일 리텐션이 급격히 개선되며, Help Center는 CS 팀의 반복 부하를 줄여 플랫폼 신뢰도를 높입니다.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97680"/>
            <a:ext cx="12188952" cy="64008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F7C548"/>
                </a:solidFill>
              </a:defRPr>
            </a:pPr>
            <a:r>
              <a:t>연결된 Key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신규 유저 7일 핵심 기능 완료율 +25%p 향상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Help Center 통해 지원 티켓 대체율 ≥ 30% 달성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온보딩 NPS ≥ 40 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Objective 2: 신규 도메인 데이터 통합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F0F0F0"/>
                </a:solidFill>
              </a:defRPr>
            </a:pPr>
            <a:r>
              <a:t>ODD 및 Sensor 도메인 데이터를 Nova Platform에 통합하여, 고객이 단일 플랫폼에서 다중 도메인 분석을 수행할 수 있도록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E94F37"/>
                </a:solidFill>
              </a:defRPr>
            </a:pPr>
            <a: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A8D8EA"/>
                </a:solidFill>
              </a:defRPr>
            </a:pPr>
            <a:r>
              <a:t>단일 도메인 플랫폼은 경쟁사 대비 교체 장벽이 낮습니다. ODD와 Sensor를 통합하여 Nova를 데이터 허브로 포지셔닝하고, 고객 이탈 비용을 비선형적으로 증가시켜 플랫폼 경쟁력을 강화합니다.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97680"/>
            <a:ext cx="12188952" cy="64008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F7C548"/>
                </a:solidFill>
              </a:defRPr>
            </a:pPr>
            <a:r>
              <a:t>연결된 Key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ODD 데이터 파이프라인 핵심 스키마 100% 매핑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Sensor 데이터 베타 출시 및 파일럿 고객 3곳 온보딩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통합 도메인 활용 유즈케이스 5건 문서화 및 영업 파이프라인 2건 창출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Objective 3: Databricks 기반 아키텍처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F0F0F0"/>
                </a:solidFill>
              </a:defRPr>
            </a:pPr>
            <a:r>
              <a:t>레거시 데이터 처리 아키텍처를 Databricks 기반으로 전환하여 플랫폼의 성능·확장성·개발 생산성을 근본적으로 향상시킨다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E94F37"/>
                </a:solidFill>
              </a:defRPr>
            </a:pPr>
            <a: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A8D8EA"/>
                </a:solidFill>
              </a:defRPr>
            </a:pPr>
            <a:r>
              <a:t>아키텍처 부채는 신규 기능 개발 비용을 기하급수적으로 증가시킵니다. Databricks 전환은 ODD/Sensor 통합 및 유저 경험 개선을 뒷받침하는 핵심 플랫폼 기반 레이어 안정화에 필수적입니다.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97680"/>
            <a:ext cx="12188952" cy="64008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F7C548"/>
                </a:solidFill>
              </a:defRPr>
            </a:pPr>
            <a:r>
              <a:t>연결된 Key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핵심 워크로드 Top 5 중 80% Databricks 마이그레이션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Databricks 기반 파이프라인 MTTR 50% 감소</a:t>
            </a:r>
          </a:p>
          <a:p>
            <a:pPr>
              <a:spcBef>
                <a:spcPts val="400"/>
              </a:spcBef>
              <a:defRPr sz="1700">
                <a:solidFill>
                  <a:srgbClr val="6BC58A"/>
                </a:solidFill>
              </a:defRPr>
            </a:pPr>
            <a:r>
              <a:t>  ▸  신규 데이터 피처 개발 리드타임 40% 단축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Key Results 전체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2103120"/>
                <a:gridCol w="2103120"/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Key Result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유저 온보딩 혁신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신규 가입 후 7일 이내 핵심 기능 완료율 +25%p 향상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~40% (추정)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유저 온보딩 혁신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Help Center 런칭 및 지원 티켓 대체율 ≥ 30% 달성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0% (미운영)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≥ 30%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유저 온보딩 혁신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신규 유저 대상 온보딩 NPS ≥ 40 달성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미측정 (Q2 기준 수립)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≥ 40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신규 도메인 통합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ODD 데이터 파이프라인 핵심 스키마 100% 매핑 및 SLA ≥ 99.5% uptime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측정 필요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100% 매핑, ≥ 99.5% uptime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신규 도메인 통합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Sensor 데이터 베타 출시, 파일럿 고객 ≥ 3곳 온보딩, 평균 지연시간 &lt; 5분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측정 필요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≥ 3곳 온보딩, &lt; 5분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신규 도메인 통합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통합 도메인 유즈케이스 ≥ 5건 문서화, 엔터프라이즈 신규 파이프라인 상담 ≥ 2건 창출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측정 필요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유즈케이스 ≥ 5건, 상담 ≥ 2건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아키텍처 전환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핵심 워크로드 Top 5 기준 80% 이상 Databricks 마이그레이션, 평균 처리 시간 ≥ 30% 단축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측정 필요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80% 이상, ≥ 30% 단축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아키텍처 전환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Databricks 기반 파이프라인 MTTR 현재 대비 50% 감소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현재 60분 (예시)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30분 이하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아키텍처 전환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신규 데이터 피처 개발 사이클 리드타임 현재 대비 40% 단축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</a:defRPr>
                      </a:pPr>
                      <a:r>
                        <a:t>측정 필요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C58A"/>
                          </a:solidFill>
                        </a:defRPr>
                      </a:pPr>
                      <a:r>
                        <a:t>현재 대비 40% 단축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 i="0">
                <a:solidFill>
                  <a:srgbClr val="E94F37"/>
                </a:solidFill>
              </a:defRPr>
            </a:pPr>
            <a:r>
              <a:t>KPI &amp; 달성도 산출 수식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754880"/>
                <a:gridCol w="1828800"/>
                <a:gridCol w="246888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KPI 지표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산출 수식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목표치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측정 출처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신규 유저 핵심 기능 완료율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(7일 이내 핵심 기능 완료 유저 수 / 신규 가입 유저 수) × 100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Nova Platform 내부 데이터 (Analytics Dashboard)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Help Center 지원 티켓 대체율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(Help Center를 통해 해결된 문의 수 / 총 고객 문의 수) × 100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≥ 30%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Help Center (e.g., Zendesk, Intercom) 통계 데이터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온보딩 NPS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(추천 고객 비율 - 비추천 고객 비율) × 100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≥ 40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온보딩 후 설문조사 (e.g., Qualtrics, Typeform)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ODD 파이프라인 SLA Uptime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(총 가용 시간 - 총 장애 시간) / 총 가용 시간 × 100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≥ 99.5%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모니터링 시스템 (e.g., Prometheus, Grafana)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Sensor 데이터 평균 지연시간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(각 데이터 포인트 인제스천 시간 - 원본 발생 시간)의 평균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&lt; 5분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데이터 파이프라인 로깅, 모니터링 시스템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핵심 워크로드 처리 시간 단축률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((마이그레이션 전 처리 시간 - 마이그레이션 후 처리 시간) / 마이그레이션 전 처리 시간) × 100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≥ 30%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Databricks Job History, 레거시 시스템 로그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Databricks 파이프라인 평균 복구 시간 (MTTR)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(총 복구 시간 합계 / 총 장애 발생 건수)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30분 이하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장애 관리 시스템 (e.g., Jira Service Management, PagerDuty)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신규 데이터 피처 개발 리드타임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A8D8EA"/>
                          </a:solidFill>
                        </a:defRPr>
                      </a:pPr>
                      <a:r>
                        <a:t>(피처 기획 시작일 → 배포 완료일)의 평균 기간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7C548"/>
                          </a:solidFill>
                        </a:defRPr>
                      </a:pPr>
                      <a:r>
                        <a:t>현재 대비 40% 단축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프로젝트 관리 도구 (e.g., Jira), Git commit 이력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