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66960" cy="2011680"/>
          </a:xfrm>
          <a:prstGeom prst="rect">
            <a:avLst/>
          </a:prstGeom>
          <a:noFill/>
        </p:spPr>
        <p:txBody>
          <a:bodyPr wrap="square">
            <a:spAutoFit/>
          </a:bodyPr>
          <a:lstStyle/>
          <a:p>
            <a:pPr>
              <a:defRPr sz="3800" b="1" i="0">
                <a:solidFill>
                  <a:srgbClr val="F0F0F0"/>
                </a:solidFill>
              </a:defRPr>
            </a:pPr>
            <a:r>
              <a:t>Nova Platform</a:t>
            </a:r>
          </a:p>
        </p:txBody>
      </p:sp>
      <p:sp>
        <p:nvSpPr>
          <p:cNvPr id="5" name="TextBox 4"/>
          <p:cNvSpPr txBox="1"/>
          <p:nvPr/>
        </p:nvSpPr>
        <p:spPr>
          <a:xfrm>
            <a:off x="1097280" y="3931920"/>
            <a:ext cx="9966960" cy="640080"/>
          </a:xfrm>
          <a:prstGeom prst="rect">
            <a:avLst/>
          </a:prstGeom>
          <a:noFill/>
        </p:spPr>
        <p:txBody>
          <a:bodyPr wrap="square">
            <a:spAutoFit/>
          </a:bodyPr>
          <a:lstStyle/>
          <a:p>
            <a:pPr>
              <a:defRPr sz="1700" b="0" i="0">
                <a:solidFill>
                  <a:srgbClr val="CCCCCC"/>
                </a:solidFill>
              </a:defRPr>
            </a:pPr>
            <a:r>
              <a:t>BRAINSTORM-OKRS  ·  2026-03-22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1143000"/>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3000" b="1" i="0">
                <a:solidFill>
                  <a:srgbClr val="E94F37"/>
                </a:solidFill>
              </a:defRPr>
            </a:pPr>
            <a:r>
              <a:t>목차</a:t>
            </a:r>
          </a:p>
        </p:txBody>
      </p:sp>
      <p:sp>
        <p:nvSpPr>
          <p:cNvPr id="4" name="TextBox 3"/>
          <p:cNvSpPr txBox="1"/>
          <p:nvPr/>
        </p:nvSpPr>
        <p:spPr>
          <a:xfrm>
            <a:off x="822960" y="1417320"/>
            <a:ext cx="10515600" cy="5120640"/>
          </a:xfrm>
          <a:prstGeom prst="rect">
            <a:avLst/>
          </a:prstGeom>
          <a:noFill/>
        </p:spPr>
        <p:txBody>
          <a:bodyPr wrap="square">
            <a:spAutoFit/>
          </a:bodyPr>
          <a:lstStyle/>
          <a:p>
            <a:pPr>
              <a:spcBef>
                <a:spcPts val="500"/>
              </a:spcBef>
              <a:defRPr sz="1900">
                <a:solidFill>
                  <a:srgbClr val="A8D8EA"/>
                </a:solidFill>
              </a:defRPr>
            </a:pPr>
            <a:r>
              <a:t>  ◈  Nova Platform 2026 Q2 Goal</a:t>
            </a:r>
          </a:p>
          <a:p>
            <a:pPr>
              <a:spcBef>
                <a:spcPts val="500"/>
              </a:spcBef>
              <a:defRPr sz="1900">
                <a:solidFill>
                  <a:srgbClr val="A8D8EA"/>
                </a:solidFill>
              </a:defRPr>
            </a:pPr>
            <a:r>
              <a:t>  ▷  Objective 1: 유저 자립도 증진 및 플랫폼 데이터 신뢰도 확보</a:t>
            </a:r>
          </a:p>
          <a:p>
            <a:pPr>
              <a:spcBef>
                <a:spcPts val="500"/>
              </a:spcBef>
              <a:defRPr sz="1900">
                <a:solidFill>
                  <a:srgbClr val="A8D8EA"/>
                </a:solidFill>
              </a:defRPr>
            </a:pPr>
            <a:r>
              <a:t>  ◆  Key Results 전체 현황</a:t>
            </a:r>
          </a:p>
          <a:p>
            <a:pPr>
              <a:spcBef>
                <a:spcPts val="500"/>
              </a:spcBef>
              <a:defRPr sz="1900">
                <a:solidFill>
                  <a:srgbClr val="A8D8EA"/>
                </a:solidFill>
              </a:defRPr>
            </a:pPr>
            <a:r>
              <a:t>  ⊕  KPI &amp; 달성도 산출 수식</a:t>
            </a:r>
          </a:p>
        </p:txBody>
      </p:sp>
      <p:sp>
        <p:nvSpPr>
          <p:cNvPr id="5" name="TextBox 4"/>
          <p:cNvSpPr txBox="1"/>
          <p:nvPr/>
        </p:nvSpPr>
        <p:spPr>
          <a:xfrm>
            <a:off x="11247120" y="6446520"/>
            <a:ext cx="822960" cy="274320"/>
          </a:xfrm>
          <a:prstGeom prst="rect">
            <a:avLst/>
          </a:prstGeom>
          <a:noFill/>
        </p:spPr>
        <p:txBody>
          <a:bodyPr wrap="none">
            <a:spAutoFit/>
          </a:bodyPr>
          <a:lstStyle/>
          <a:p>
            <a:pPr>
              <a:defRPr sz="1100">
                <a:solidFill>
                  <a:srgbClr val="888888"/>
                </a:solidFill>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640080"/>
          </a:xfrm>
          <a:prstGeom prst="rect">
            <a:avLst/>
          </a:prstGeom>
          <a:noFill/>
        </p:spPr>
        <p:txBody>
          <a:bodyPr wrap="square">
            <a:spAutoFit/>
          </a:bodyPr>
          <a:lstStyle/>
          <a:p>
            <a:pPr>
              <a:defRPr sz="1300" b="1" i="0">
                <a:solidFill>
                  <a:srgbClr val="E94F37"/>
                </a:solidFill>
              </a:defRPr>
            </a:pPr>
            <a:r>
              <a:t>Nova Platform 2026 Q2 Goal</a:t>
            </a:r>
          </a:p>
        </p:txBody>
      </p:sp>
      <p:sp>
        <p:nvSpPr>
          <p:cNvPr id="4" name="TextBox 3"/>
          <p:cNvSpPr txBox="1"/>
          <p:nvPr/>
        </p:nvSpPr>
        <p:spPr>
          <a:xfrm>
            <a:off x="731520" y="822960"/>
            <a:ext cx="10698480" cy="1463040"/>
          </a:xfrm>
          <a:prstGeom prst="rect">
            <a:avLst/>
          </a:prstGeom>
          <a:noFill/>
        </p:spPr>
        <p:txBody>
          <a:bodyPr wrap="square">
            <a:spAutoFit/>
          </a:bodyPr>
          <a:lstStyle/>
          <a:p>
            <a:pPr>
              <a:defRPr sz="2800" b="1" i="0">
                <a:solidFill>
                  <a:srgbClr val="F0F0F0"/>
                </a:solidFill>
              </a:defRPr>
            </a:pPr>
            <a:r>
              <a:t>유저의 자립적 성장을 돕고, 견고한 데이터 기반을 마련하여 Nova Platform의 지속 가능한 성장을 이끈다.</a:t>
            </a:r>
          </a:p>
        </p:txBody>
      </p:sp>
      <p:sp>
        <p:nvSpPr>
          <p:cNvPr id="5" name="Rectangle 4"/>
          <p:cNvSpPr/>
          <p:nvPr/>
        </p:nvSpPr>
        <p:spPr>
          <a:xfrm>
            <a:off x="0" y="2377440"/>
            <a:ext cx="12188952" cy="640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14600"/>
            <a:ext cx="10515600" cy="2194560"/>
          </a:xfrm>
          <a:prstGeom prst="rect">
            <a:avLst/>
          </a:prstGeom>
          <a:noFill/>
        </p:spPr>
        <p:txBody>
          <a:bodyPr wrap="square">
            <a:spAutoFit/>
          </a:bodyPr>
          <a:lstStyle/>
          <a:p>
            <a:pPr>
              <a:defRPr sz="1900" b="0" i="0">
                <a:solidFill>
                  <a:srgbClr val="A8D8EA"/>
                </a:solidFill>
              </a:defRPr>
            </a:pPr>
            <a:r>
              <a:t>이번 분기에는 Help Center를 통해 유저가 스스로 제품을 활용하고 성공 경험을 만들도록 지원하여 활성화를 극대화합니다. 동시에 Databricks 기반의 데이터 아키텍처로 전환하여 플랫폼의 기술적 신뢰성과 개발 생산성을 혁신하고, 미래 성장을 위한 강력한 기반을 다질 것입니다.</a:t>
            </a:r>
          </a:p>
        </p:txBody>
      </p:sp>
      <p:sp>
        <p:nvSpPr>
          <p:cNvPr id="7" name="Rectangle 6"/>
          <p:cNvSpPr/>
          <p:nvPr/>
        </p:nvSpPr>
        <p:spPr>
          <a:xfrm>
            <a:off x="731520" y="4937760"/>
            <a:ext cx="10698480" cy="77724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0F0F0"/>
                </a:solidFill>
              </a:defRPr>
            </a:pPr>
            <a:r>
              <a:t>" 성장과 혁신, 두 마리 토끼를 잡다! "</a:t>
            </a:r>
          </a:p>
        </p:txBody>
      </p:sp>
      <p:sp>
        <p:nvSpPr>
          <p:cNvPr id="8" name="Rectangle 7"/>
          <p:cNvSpPr/>
          <p:nvPr/>
        </p:nvSpPr>
        <p:spPr>
          <a:xfrm>
            <a:off x="0" y="6793992"/>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47120" y="6446520"/>
            <a:ext cx="822960" cy="274320"/>
          </a:xfrm>
          <a:prstGeom prst="rect">
            <a:avLst/>
          </a:prstGeom>
          <a:noFill/>
        </p:spPr>
        <p:txBody>
          <a:bodyPr wrap="none">
            <a:spAutoFit/>
          </a:bodyPr>
          <a:lstStyle/>
          <a:p>
            <a:pPr>
              <a:defRPr sz="1100">
                <a:solidFill>
                  <a:srgbClr val="888888"/>
                </a:solidFill>
              </a:defRPr>
            </a:pPr>
            <a:r>
              <a: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0972800" cy="685800"/>
          </a:xfrm>
          <a:prstGeom prst="rect">
            <a:avLst/>
          </a:prstGeom>
          <a:noFill/>
        </p:spPr>
        <p:txBody>
          <a:bodyPr wrap="square">
            <a:spAutoFit/>
          </a:bodyPr>
          <a:lstStyle/>
          <a:p>
            <a:pPr>
              <a:defRPr sz="2600" b="1" i="0">
                <a:solidFill>
                  <a:srgbClr val="E94F37"/>
                </a:solidFill>
              </a:defRPr>
            </a:pPr>
            <a:r>
              <a:t>Objective 1: 유저 자립도 증진 및 플랫폼 데이터 신뢰도 확보</a:t>
            </a:r>
          </a:p>
        </p:txBody>
      </p:sp>
      <p:sp>
        <p:nvSpPr>
          <p:cNvPr id="3" name="Rectangle 2"/>
          <p:cNvSpPr/>
          <p:nvPr/>
        </p:nvSpPr>
        <p:spPr>
          <a:xfrm>
            <a:off x="0" y="1005840"/>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0881360" cy="1188720"/>
          </a:xfrm>
          <a:prstGeom prst="rect">
            <a:avLst/>
          </a:prstGeom>
          <a:noFill/>
        </p:spPr>
        <p:txBody>
          <a:bodyPr wrap="square">
            <a:spAutoFit/>
          </a:bodyPr>
          <a:lstStyle/>
          <a:p>
            <a:pPr>
              <a:defRPr sz="2200" b="1" i="0">
                <a:solidFill>
                  <a:srgbClr val="F0F0F0"/>
                </a:solidFill>
              </a:defRPr>
            </a:pPr>
            <a:r>
              <a:t>Help Center로 유저 자립도를 높이는 동시에, Databricks 전환으로 플랫폼 데이터 신뢰도의 기반을 확보한다</a:t>
            </a:r>
          </a:p>
        </p:txBody>
      </p:sp>
      <p:sp>
        <p:nvSpPr>
          <p:cNvPr id="5" name="TextBox 4"/>
          <p:cNvSpPr txBox="1"/>
          <p:nvPr/>
        </p:nvSpPr>
        <p:spPr>
          <a:xfrm>
            <a:off x="640080" y="2423160"/>
            <a:ext cx="1371600" cy="411480"/>
          </a:xfrm>
          <a:prstGeom prst="rect">
            <a:avLst/>
          </a:prstGeom>
          <a:noFill/>
        </p:spPr>
        <p:txBody>
          <a:bodyPr wrap="square">
            <a:spAutoFit/>
          </a:bodyPr>
          <a:lstStyle/>
          <a:p>
            <a:pPr>
              <a:defRPr sz="1300" b="1" i="0">
                <a:solidFill>
                  <a:srgbClr val="E94F37"/>
                </a:solidFill>
              </a:defRPr>
            </a:pPr>
            <a:r>
              <a:t>WHY</a:t>
            </a:r>
          </a:p>
        </p:txBody>
      </p:sp>
      <p:sp>
        <p:nvSpPr>
          <p:cNvPr id="6" name="TextBox 5"/>
          <p:cNvSpPr txBox="1"/>
          <p:nvPr/>
        </p:nvSpPr>
        <p:spPr>
          <a:xfrm>
            <a:off x="640080" y="2788920"/>
            <a:ext cx="10789920" cy="1371600"/>
          </a:xfrm>
          <a:prstGeom prst="rect">
            <a:avLst/>
          </a:prstGeom>
          <a:noFill/>
        </p:spPr>
        <p:txBody>
          <a:bodyPr wrap="square">
            <a:spAutoFit/>
          </a:bodyPr>
          <a:lstStyle/>
          <a:p>
            <a:pPr>
              <a:defRPr sz="1800" b="0" i="0">
                <a:solidFill>
                  <a:srgbClr val="A8D8EA"/>
                </a:solidFill>
              </a:defRPr>
            </a:pPr>
            <a:r>
              <a:t>Help Center를 통해 유저는 스스로 문제 해결 능력을 키우고 제품 활용도를 높여 장기적인 잔존율에 기여합니다. 동시에 Databricks 기반의 안정적인 데이터 파이프라인은 신기능 개발 속도를 향상시키고, 데이터 기반 의사결정의 신뢰도를 확보하여 플랫폼의 근본적인 성장 동력을 제공할 것입니다.</a:t>
            </a:r>
          </a:p>
        </p:txBody>
      </p:sp>
      <p:sp>
        <p:nvSpPr>
          <p:cNvPr id="7" name="Rectangle 6"/>
          <p:cNvSpPr/>
          <p:nvPr/>
        </p:nvSpPr>
        <p:spPr>
          <a:xfrm>
            <a:off x="0" y="4297680"/>
            <a:ext cx="12188952" cy="64008"/>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389120"/>
            <a:ext cx="2743200" cy="365760"/>
          </a:xfrm>
          <a:prstGeom prst="rect">
            <a:avLst/>
          </a:prstGeom>
          <a:noFill/>
        </p:spPr>
        <p:txBody>
          <a:bodyPr wrap="square">
            <a:spAutoFit/>
          </a:bodyPr>
          <a:lstStyle/>
          <a:p>
            <a:pPr>
              <a:defRPr sz="1300" b="1" i="0">
                <a:solidFill>
                  <a:srgbClr val="F7C548"/>
                </a:solidFill>
              </a:defRPr>
            </a:pPr>
            <a:r>
              <a:t>연결된 Key Results</a:t>
            </a:r>
          </a:p>
        </p:txBody>
      </p:sp>
      <p:sp>
        <p:nvSpPr>
          <p:cNvPr id="9" name="TextBox 8"/>
          <p:cNvSpPr txBox="1"/>
          <p:nvPr/>
        </p:nvSpPr>
        <p:spPr>
          <a:xfrm>
            <a:off x="822960" y="4800600"/>
            <a:ext cx="10515600" cy="1737360"/>
          </a:xfrm>
          <a:prstGeom prst="rect">
            <a:avLst/>
          </a:prstGeom>
          <a:noFill/>
        </p:spPr>
        <p:txBody>
          <a:bodyPr wrap="square">
            <a:spAutoFit/>
          </a:bodyPr>
          <a:lstStyle/>
          <a:p>
            <a:pPr>
              <a:spcBef>
                <a:spcPts val="400"/>
              </a:spcBef>
              <a:defRPr sz="1700">
                <a:solidFill>
                  <a:srgbClr val="6BC58A"/>
                </a:solidFill>
              </a:defRPr>
            </a:pPr>
            <a:r>
              <a:t>  ▸  월간 활성 유저(MAU) 대비 Help Center 이용률 40% 이상</a:t>
            </a:r>
          </a:p>
          <a:p>
            <a:pPr>
              <a:spcBef>
                <a:spcPts val="400"/>
              </a:spcBef>
              <a:defRPr sz="1700">
                <a:solidFill>
                  <a:srgbClr val="6BC58A"/>
                </a:solidFill>
              </a:defRPr>
            </a:pPr>
            <a:r>
              <a:t>  ▸  Databricks 파이프라인 핵심 모듈 100% 전환</a:t>
            </a:r>
          </a:p>
          <a:p>
            <a:pPr>
              <a:spcBef>
                <a:spcPts val="400"/>
              </a:spcBef>
              <a:defRPr sz="1700">
                <a:solidFill>
                  <a:srgbClr val="6BC58A"/>
                </a:solidFill>
              </a:defRPr>
            </a:pPr>
            <a:r>
              <a:t>  ▸  Help Center 데이터 기반 콘텐츠 개선 사이클 2주 단위 운영</a:t>
            </a:r>
          </a:p>
        </p:txBody>
      </p:sp>
      <p:sp>
        <p:nvSpPr>
          <p:cNvPr id="10" name="TextBox 9"/>
          <p:cNvSpPr txBox="1"/>
          <p:nvPr/>
        </p:nvSpPr>
        <p:spPr>
          <a:xfrm>
            <a:off x="11247120" y="6446520"/>
            <a:ext cx="822960" cy="274320"/>
          </a:xfrm>
          <a:prstGeom prst="rect">
            <a:avLst/>
          </a:prstGeom>
          <a:noFill/>
        </p:spPr>
        <p:txBody>
          <a:bodyPr wrap="none">
            <a:spAutoFit/>
          </a:bodyPr>
          <a:lstStyle/>
          <a:p>
            <a:pPr>
              <a:defRPr sz="1100">
                <a:solidFill>
                  <a:srgbClr val="888888"/>
                </a:solidFill>
              </a:defRPr>
            </a:pPr>
            <a: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0972800" cy="685800"/>
          </a:xfrm>
          <a:prstGeom prst="rect">
            <a:avLst/>
          </a:prstGeom>
          <a:noFill/>
        </p:spPr>
        <p:txBody>
          <a:bodyPr wrap="square">
            <a:spAutoFit/>
          </a:bodyPr>
          <a:lstStyle/>
          <a:p>
            <a:pPr>
              <a:defRPr sz="2600" b="1" i="0">
                <a:solidFill>
                  <a:srgbClr val="E94F37"/>
                </a:solidFill>
              </a:defRPr>
            </a:pPr>
            <a:r>
              <a:t>Key Results 전체 현황</a:t>
            </a:r>
          </a:p>
        </p:txBody>
      </p:sp>
      <p:sp>
        <p:nvSpPr>
          <p:cNvPr id="3" name="Rectangle 2"/>
          <p:cNvSpPr/>
          <p:nvPr/>
        </p:nvSpPr>
        <p:spPr>
          <a:xfrm>
            <a:off x="0" y="1005840"/>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188720"/>
          <a:ext cx="11247120" cy="3136391"/>
        </p:xfrm>
        <a:graphic>
          <a:graphicData uri="http://schemas.openxmlformats.org/drawingml/2006/table">
            <a:tbl>
              <a:tblPr firstRow="1" bandRow="1">
                <a:tableStyleId>{5C22544A-7EE6-4342-B048-85BDC9FD1C3A}</a:tableStyleId>
              </a:tblPr>
              <a:tblGrid>
                <a:gridCol w="2926080"/>
                <a:gridCol w="4114800"/>
                <a:gridCol w="2103120"/>
                <a:gridCol w="2103120"/>
              </a:tblGrid>
              <a:tr h="784097">
                <a:tc>
                  <a:txBody>
                    <a:bodyPr/>
                    <a:lstStyle/>
                    <a:p>
                      <a:pPr algn="ctr">
                        <a:defRPr sz="1400" b="1">
                          <a:solidFill>
                            <a:srgbClr val="F0F0F0"/>
                          </a:solidFill>
                        </a:defRPr>
                      </a:pPr>
                      <a:r>
                        <a:t>Objective</a:t>
                      </a:r>
                    </a:p>
                  </a:txBody>
                  <a:tcPr>
                    <a:solidFill>
                      <a:srgbClr val="E94F37"/>
                    </a:solidFill>
                  </a:tcPr>
                </a:tc>
                <a:tc>
                  <a:txBody>
                    <a:bodyPr/>
                    <a:lstStyle/>
                    <a:p>
                      <a:pPr algn="ctr">
                        <a:defRPr sz="1400" b="1">
                          <a:solidFill>
                            <a:srgbClr val="F0F0F0"/>
                          </a:solidFill>
                        </a:defRPr>
                      </a:pPr>
                      <a:r>
                        <a:t>Key Result</a:t>
                      </a:r>
                    </a:p>
                  </a:txBody>
                  <a:tcPr>
                    <a:solidFill>
                      <a:srgbClr val="E94F37"/>
                    </a:solidFill>
                  </a:tcPr>
                </a:tc>
                <a:tc>
                  <a:txBody>
                    <a:bodyPr/>
                    <a:lstStyle/>
                    <a:p>
                      <a:pPr algn="ctr">
                        <a:defRPr sz="1400" b="1">
                          <a:solidFill>
                            <a:srgbClr val="F0F0F0"/>
                          </a:solidFill>
                        </a:defRPr>
                      </a:pPr>
                      <a:r>
                        <a:t>Baseline</a:t>
                      </a:r>
                    </a:p>
                  </a:txBody>
                  <a:tcPr>
                    <a:solidFill>
                      <a:srgbClr val="E94F37"/>
                    </a:solidFill>
                  </a:tcPr>
                </a:tc>
                <a:tc>
                  <a:txBody>
                    <a:bodyPr/>
                    <a:lstStyle/>
                    <a:p>
                      <a:pPr algn="ctr">
                        <a:defRPr sz="1400" b="1">
                          <a:solidFill>
                            <a:srgbClr val="F0F0F0"/>
                          </a:solidFill>
                        </a:defRPr>
                      </a:pPr>
                      <a:r>
                        <a:t>Target</a:t>
                      </a:r>
                    </a:p>
                  </a:txBody>
                  <a:tcPr>
                    <a:solidFill>
                      <a:srgbClr val="E94F37"/>
                    </a:solidFill>
                  </a:tcPr>
                </a:tc>
              </a:tr>
              <a:tr h="784097">
                <a:tc>
                  <a:txBody>
                    <a:bodyPr/>
                    <a:lstStyle/>
                    <a:p>
                      <a:pPr>
                        <a:defRPr sz="1300">
                          <a:solidFill>
                            <a:srgbClr val="F0F0F0"/>
                          </a:solidFill>
                        </a:defRPr>
                      </a:pPr>
                      <a:r>
                        <a:t>유저 자립도 증진</a:t>
                      </a:r>
                    </a:p>
                  </a:txBody>
                  <a:tcPr>
                    <a:solidFill>
                      <a:srgbClr val="2A2A4A"/>
                    </a:solidFill>
                  </a:tcPr>
                </a:tc>
                <a:tc>
                  <a:txBody>
                    <a:bodyPr/>
                    <a:lstStyle/>
                    <a:p>
                      <a:pPr>
                        <a:defRPr sz="1300">
                          <a:solidFill>
                            <a:srgbClr val="F0F0F0"/>
                          </a:solidFill>
                        </a:defRPr>
                      </a:pPr>
                      <a:r>
                        <a:t>Help Center 오픈 후 MAU 대비 Help Center 이용률 40% 이상, 이용 유저 기능 활용도 +15%p 달성</a:t>
                      </a:r>
                    </a:p>
                  </a:txBody>
                  <a:tcPr>
                    <a:solidFill>
                      <a:srgbClr val="2A2A4A"/>
                    </a:solidFill>
                  </a:tcPr>
                </a:tc>
                <a:tc>
                  <a:txBody>
                    <a:bodyPr/>
                    <a:lstStyle/>
                    <a:p>
                      <a:pPr>
                        <a:defRPr sz="1300">
                          <a:solidFill>
                            <a:srgbClr val="F0F0F0"/>
                          </a:solidFill>
                        </a:defRPr>
                      </a:pPr>
                      <a:r>
                        <a:t>이용률: 측정 필요, 활용도: 측정 필요</a:t>
                      </a:r>
                    </a:p>
                  </a:txBody>
                  <a:tcPr>
                    <a:solidFill>
                      <a:srgbClr val="2A2A4A"/>
                    </a:solidFill>
                  </a:tcPr>
                </a:tc>
                <a:tc>
                  <a:txBody>
                    <a:bodyPr/>
                    <a:lstStyle/>
                    <a:p>
                      <a:pPr algn="ctr">
                        <a:defRPr sz="1300">
                          <a:solidFill>
                            <a:srgbClr val="6BC58A"/>
                          </a:solidFill>
                        </a:defRPr>
                      </a:pPr>
                      <a:r>
                        <a:t>이용률 40%↑, 활용도 +15%p</a:t>
                      </a:r>
                    </a:p>
                  </a:txBody>
                  <a:tcPr>
                    <a:solidFill>
                      <a:srgbClr val="2A2A4A"/>
                    </a:solidFill>
                  </a:tcPr>
                </a:tc>
              </a:tr>
              <a:tr h="784097">
                <a:tc>
                  <a:txBody>
                    <a:bodyPr/>
                    <a:lstStyle/>
                    <a:p>
                      <a:pPr>
                        <a:defRPr sz="1300">
                          <a:solidFill>
                            <a:srgbClr val="F0F0F0"/>
                          </a:solidFill>
                        </a:defRPr>
                      </a:pPr>
                      <a:r>
                        <a:t>데이터 신뢰도 확보</a:t>
                      </a:r>
                    </a:p>
                  </a:txBody>
                  <a:tcPr>
                    <a:solidFill>
                      <a:srgbClr val="22223A"/>
                    </a:solidFill>
                  </a:tcPr>
                </a:tc>
                <a:tc>
                  <a:txBody>
                    <a:bodyPr/>
                    <a:lstStyle/>
                    <a:p>
                      <a:pPr>
                        <a:defRPr sz="1300">
                          <a:solidFill>
                            <a:srgbClr val="F0F0F0"/>
                          </a:solidFill>
                        </a:defRPr>
                      </a:pPr>
                      <a:r>
                        <a:t>Databricks 파이프라인 핵심 모듈 100% 완료, 전체 50% 이상 마이그레이션</a:t>
                      </a:r>
                    </a:p>
                  </a:txBody>
                  <a:tcPr>
                    <a:solidFill>
                      <a:srgbClr val="22223A"/>
                    </a:solidFill>
                  </a:tcPr>
                </a:tc>
                <a:tc>
                  <a:txBody>
                    <a:bodyPr/>
                    <a:lstStyle/>
                    <a:p>
                      <a:pPr>
                        <a:defRPr sz="1300">
                          <a:solidFill>
                            <a:srgbClr val="F0F0F0"/>
                          </a:solidFill>
                        </a:defRPr>
                      </a:pPr>
                      <a:r>
                        <a:t>핵심 모듈: 0%, 전체: 0%</a:t>
                      </a:r>
                    </a:p>
                  </a:txBody>
                  <a:tcPr>
                    <a:solidFill>
                      <a:srgbClr val="22223A"/>
                    </a:solidFill>
                  </a:tcPr>
                </a:tc>
                <a:tc>
                  <a:txBody>
                    <a:bodyPr/>
                    <a:lstStyle/>
                    <a:p>
                      <a:pPr algn="ctr">
                        <a:defRPr sz="1300">
                          <a:solidFill>
                            <a:srgbClr val="6BC58A"/>
                          </a:solidFill>
                        </a:defRPr>
                      </a:pPr>
                      <a:r>
                        <a:t>핵심 모듈 100%, 전체 50%↑</a:t>
                      </a:r>
                    </a:p>
                  </a:txBody>
                  <a:tcPr>
                    <a:solidFill>
                      <a:srgbClr val="22223A"/>
                    </a:solidFill>
                  </a:tcPr>
                </a:tc>
              </a:tr>
              <a:tr h="784100">
                <a:tc>
                  <a:txBody>
                    <a:bodyPr/>
                    <a:lstStyle/>
                    <a:p>
                      <a:pPr>
                        <a:defRPr sz="1300">
                          <a:solidFill>
                            <a:srgbClr val="F0F0F0"/>
                          </a:solidFill>
                        </a:defRPr>
                      </a:pPr>
                      <a:r>
                        <a:t>시너지 &amp; 효율성</a:t>
                      </a:r>
                    </a:p>
                  </a:txBody>
                  <a:tcPr>
                    <a:solidFill>
                      <a:srgbClr val="2A2A4A"/>
                    </a:solidFill>
                  </a:tcPr>
                </a:tc>
                <a:tc>
                  <a:txBody>
                    <a:bodyPr/>
                    <a:lstStyle/>
                    <a:p>
                      <a:pPr>
                        <a:defRPr sz="1300">
                          <a:solidFill>
                            <a:srgbClr val="F0F0F0"/>
                          </a:solidFill>
                        </a:defRPr>
                      </a:pPr>
                      <a:r>
                        <a:t>Help Center 데이터 기반 콘텐츠 개선 사이클 2주 단위 운영 (Q2 내 최소 3회 iteration)</a:t>
                      </a:r>
                    </a:p>
                  </a:txBody>
                  <a:tcPr>
                    <a:solidFill>
                      <a:srgbClr val="2A2A4A"/>
                    </a:solidFill>
                  </a:tcPr>
                </a:tc>
                <a:tc>
                  <a:txBody>
                    <a:bodyPr/>
                    <a:lstStyle/>
                    <a:p>
                      <a:pPr>
                        <a:defRPr sz="1300">
                          <a:solidFill>
                            <a:srgbClr val="F0F0F0"/>
                          </a:solidFill>
                        </a:defRPr>
                      </a:pPr>
                      <a:r>
                        <a:t>개선 사이클: 측정 필요, iteration: 0회</a:t>
                      </a:r>
                    </a:p>
                  </a:txBody>
                  <a:tcPr>
                    <a:solidFill>
                      <a:srgbClr val="2A2A4A"/>
                    </a:solidFill>
                  </a:tcPr>
                </a:tc>
                <a:tc>
                  <a:txBody>
                    <a:bodyPr/>
                    <a:lstStyle/>
                    <a:p>
                      <a:pPr algn="ctr">
                        <a:defRPr sz="1300">
                          <a:solidFill>
                            <a:srgbClr val="6BC58A"/>
                          </a:solidFill>
                        </a:defRPr>
                      </a:pPr>
                      <a:r>
                        <a:t>2주 단위 운영 (3회 이상)</a:t>
                      </a:r>
                    </a:p>
                  </a:txBody>
                  <a:tcPr>
                    <a:solidFill>
                      <a:srgbClr val="2A2A4A"/>
                    </a:solidFill>
                  </a:tcPr>
                </a:tc>
              </a:tr>
            </a:tbl>
          </a:graphicData>
        </a:graphic>
      </p:graphicFrame>
      <p:sp>
        <p:nvSpPr>
          <p:cNvPr id="5" name="TextBox 4"/>
          <p:cNvSpPr txBox="1"/>
          <p:nvPr/>
        </p:nvSpPr>
        <p:spPr>
          <a:xfrm>
            <a:off x="11247120" y="6446520"/>
            <a:ext cx="822960" cy="274320"/>
          </a:xfrm>
          <a:prstGeom prst="rect">
            <a:avLst/>
          </a:prstGeom>
          <a:noFill/>
        </p:spPr>
        <p:txBody>
          <a:bodyPr wrap="none">
            <a:spAutoFit/>
          </a:bodyPr>
          <a:lstStyle/>
          <a:p>
            <a:pPr>
              <a:defRPr sz="1100">
                <a:solidFill>
                  <a:srgbClr val="888888"/>
                </a:solidFill>
              </a:defRPr>
            </a:pPr>
            <a: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28600"/>
            <a:ext cx="10972800" cy="685800"/>
          </a:xfrm>
          <a:prstGeom prst="rect">
            <a:avLst/>
          </a:prstGeom>
          <a:noFill/>
        </p:spPr>
        <p:txBody>
          <a:bodyPr wrap="square">
            <a:spAutoFit/>
          </a:bodyPr>
          <a:lstStyle/>
          <a:p>
            <a:pPr>
              <a:defRPr sz="2600" b="1" i="0">
                <a:solidFill>
                  <a:srgbClr val="E94F37"/>
                </a:solidFill>
              </a:defRPr>
            </a:pPr>
            <a:r>
              <a:t>KPI &amp; 달성도 산출 수식</a:t>
            </a:r>
          </a:p>
        </p:txBody>
      </p:sp>
      <p:sp>
        <p:nvSpPr>
          <p:cNvPr id="3" name="Rectangle 2"/>
          <p:cNvSpPr/>
          <p:nvPr/>
        </p:nvSpPr>
        <p:spPr>
          <a:xfrm>
            <a:off x="0" y="1005840"/>
            <a:ext cx="12188952" cy="64008"/>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194560"/>
                <a:gridCol w="4754880"/>
                <a:gridCol w="1828800"/>
                <a:gridCol w="2468880"/>
              </a:tblGrid>
              <a:tr h="815340">
                <a:tc>
                  <a:txBody>
                    <a:bodyPr/>
                    <a:lstStyle/>
                    <a:p>
                      <a:pPr algn="ctr">
                        <a:defRPr sz="1400" b="1">
                          <a:solidFill>
                            <a:srgbClr val="F0F0F0"/>
                          </a:solidFill>
                        </a:defRPr>
                      </a:pPr>
                      <a:r>
                        <a:t>KPI 지표</a:t>
                      </a:r>
                    </a:p>
                  </a:txBody>
                  <a:tcPr>
                    <a:solidFill>
                      <a:srgbClr val="E94F37"/>
                    </a:solidFill>
                  </a:tcPr>
                </a:tc>
                <a:tc>
                  <a:txBody>
                    <a:bodyPr/>
                    <a:lstStyle/>
                    <a:p>
                      <a:pPr algn="ctr">
                        <a:defRPr sz="1400" b="1">
                          <a:solidFill>
                            <a:srgbClr val="F0F0F0"/>
                          </a:solidFill>
                        </a:defRPr>
                      </a:pPr>
                      <a:r>
                        <a:t>산출 수식</a:t>
                      </a:r>
                    </a:p>
                  </a:txBody>
                  <a:tcPr>
                    <a:solidFill>
                      <a:srgbClr val="E94F37"/>
                    </a:solidFill>
                  </a:tcPr>
                </a:tc>
                <a:tc>
                  <a:txBody>
                    <a:bodyPr/>
                    <a:lstStyle/>
                    <a:p>
                      <a:pPr algn="ctr">
                        <a:defRPr sz="1400" b="1">
                          <a:solidFill>
                            <a:srgbClr val="F0F0F0"/>
                          </a:solidFill>
                        </a:defRPr>
                      </a:pPr>
                      <a:r>
                        <a:t>목표치</a:t>
                      </a:r>
                    </a:p>
                  </a:txBody>
                  <a:tcPr>
                    <a:solidFill>
                      <a:srgbClr val="E94F37"/>
                    </a:solidFill>
                  </a:tcPr>
                </a:tc>
                <a:tc>
                  <a:txBody>
                    <a:bodyPr/>
                    <a:lstStyle/>
                    <a:p>
                      <a:pPr algn="ctr">
                        <a:defRPr sz="1400" b="1">
                          <a:solidFill>
                            <a:srgbClr val="F0F0F0"/>
                          </a:solidFill>
                        </a:defRPr>
                      </a:pPr>
                      <a:r>
                        <a:t>측정 출처</a:t>
                      </a:r>
                    </a:p>
                  </a:txBody>
                  <a:tcPr>
                    <a:solidFill>
                      <a:srgbClr val="E94F37"/>
                    </a:solidFill>
                  </a:tcPr>
                </a:tc>
              </a:tr>
              <a:tr h="815340">
                <a:tc>
                  <a:txBody>
                    <a:bodyPr/>
                    <a:lstStyle/>
                    <a:p>
                      <a:pPr>
                        <a:defRPr sz="1200">
                          <a:solidFill>
                            <a:srgbClr val="F0F0F0"/>
                          </a:solidFill>
                        </a:defRPr>
                      </a:pPr>
                      <a:r>
                        <a:t>Help Center 이용률</a:t>
                      </a:r>
                    </a:p>
                  </a:txBody>
                  <a:tcPr>
                    <a:solidFill>
                      <a:srgbClr val="2A2A4A"/>
                    </a:solidFill>
                  </a:tcPr>
                </a:tc>
                <a:tc>
                  <a:txBody>
                    <a:bodyPr/>
                    <a:lstStyle/>
                    <a:p>
                      <a:pPr>
                        <a:defRPr sz="1200">
                          <a:solidFill>
                            <a:srgbClr val="A8D8EA"/>
                          </a:solidFill>
                        </a:defRPr>
                      </a:pPr>
                      <a:r>
                        <a:t>(Help Center 월별 순 방문자 수 / 월간 활성 유저 수(MAU)) × 100</a:t>
                      </a:r>
                    </a:p>
                  </a:txBody>
                  <a:tcPr>
                    <a:solidFill>
                      <a:srgbClr val="2A2A4A"/>
                    </a:solidFill>
                  </a:tcPr>
                </a:tc>
                <a:tc>
                  <a:txBody>
                    <a:bodyPr/>
                    <a:lstStyle/>
                    <a:p>
                      <a:pPr>
                        <a:defRPr sz="1200">
                          <a:solidFill>
                            <a:srgbClr val="F7C548"/>
                          </a:solidFill>
                        </a:defRPr>
                      </a:pPr>
                      <a:r>
                        <a:t>40% 이상</a:t>
                      </a:r>
                    </a:p>
                  </a:txBody>
                  <a:tcPr>
                    <a:solidFill>
                      <a:srgbClr val="2A2A4A"/>
                    </a:solidFill>
                  </a:tcPr>
                </a:tc>
                <a:tc>
                  <a:txBody>
                    <a:bodyPr/>
                    <a:lstStyle/>
                    <a:p>
                      <a:pPr>
                        <a:defRPr sz="1200">
                          <a:solidFill>
                            <a:srgbClr val="F0F0F0"/>
                          </a:solidFill>
                        </a:defRPr>
                      </a:pPr>
                      <a:r>
                        <a:t>GA, Amplitude, Help Center 내부 로그</a:t>
                      </a:r>
                    </a:p>
                  </a:txBody>
                  <a:tcPr>
                    <a:solidFill>
                      <a:srgbClr val="2A2A4A"/>
                    </a:solidFill>
                  </a:tcPr>
                </a:tc>
              </a:tr>
              <a:tr h="815340">
                <a:tc>
                  <a:txBody>
                    <a:bodyPr/>
                    <a:lstStyle/>
                    <a:p>
                      <a:pPr>
                        <a:defRPr sz="1200">
                          <a:solidFill>
                            <a:srgbClr val="F0F0F0"/>
                          </a:solidFill>
                        </a:defRPr>
                      </a:pPr>
                      <a:r>
                        <a:t>기능 활용 지표 (FAR)</a:t>
                      </a:r>
                    </a:p>
                  </a:txBody>
                  <a:tcPr>
                    <a:solidFill>
                      <a:srgbClr val="22223A"/>
                    </a:solidFill>
                  </a:tcPr>
                </a:tc>
                <a:tc>
                  <a:txBody>
                    <a:bodyPr/>
                    <a:lstStyle/>
                    <a:p>
                      <a:pPr>
                        <a:defRPr sz="1200">
                          <a:solidFill>
                            <a:srgbClr val="A8D8EA"/>
                          </a:solidFill>
                        </a:defRPr>
                      </a:pPr>
                      <a:r>
                        <a:t>(Help Center 이용 유저 중 핵심 기능 N회 이상 사용 유저 수 / Help Center 이용 유저 수) × 100</a:t>
                      </a:r>
                    </a:p>
                  </a:txBody>
                  <a:tcPr>
                    <a:solidFill>
                      <a:srgbClr val="22223A"/>
                    </a:solidFill>
                  </a:tcPr>
                </a:tc>
                <a:tc>
                  <a:txBody>
                    <a:bodyPr/>
                    <a:lstStyle/>
                    <a:p>
                      <a:pPr>
                        <a:defRPr sz="1200">
                          <a:solidFill>
                            <a:srgbClr val="F7C548"/>
                          </a:solidFill>
                        </a:defRPr>
                      </a:pPr>
                      <a:r>
                        <a:t>현재 대비 +15%p</a:t>
                      </a:r>
                    </a:p>
                  </a:txBody>
                  <a:tcPr>
                    <a:solidFill>
                      <a:srgbClr val="22223A"/>
                    </a:solidFill>
                  </a:tcPr>
                </a:tc>
                <a:tc>
                  <a:txBody>
                    <a:bodyPr/>
                    <a:lstStyle/>
                    <a:p>
                      <a:pPr>
                        <a:defRPr sz="1200">
                          <a:solidFill>
                            <a:srgbClr val="F0F0F0"/>
                          </a:solidFill>
                        </a:defRPr>
                      </a:pPr>
                      <a:r>
                        <a:t>제품 내부 데이터 (Amplitude, Mixpanel)</a:t>
                      </a:r>
                    </a:p>
                  </a:txBody>
                  <a:tcPr>
                    <a:solidFill>
                      <a:srgbClr val="22223A"/>
                    </a:solidFill>
                  </a:tcPr>
                </a:tc>
              </a:tr>
              <a:tr h="815340">
                <a:tc>
                  <a:txBody>
                    <a:bodyPr/>
                    <a:lstStyle/>
                    <a:p>
                      <a:pPr>
                        <a:defRPr sz="1200">
                          <a:solidFill>
                            <a:srgbClr val="F0F0F0"/>
                          </a:solidFill>
                        </a:defRPr>
                      </a:pPr>
                      <a:r>
                        <a:t>Databricks 핵심 모듈 전환율</a:t>
                      </a:r>
                    </a:p>
                  </a:txBody>
                  <a:tcPr>
                    <a:solidFill>
                      <a:srgbClr val="2A2A4A"/>
                    </a:solidFill>
                  </a:tcPr>
                </a:tc>
                <a:tc>
                  <a:txBody>
                    <a:bodyPr/>
                    <a:lstStyle/>
                    <a:p>
                      <a:pPr>
                        <a:defRPr sz="1200">
                          <a:solidFill>
                            <a:srgbClr val="A8D8EA"/>
                          </a:solidFill>
                        </a:defRPr>
                      </a:pPr>
                      <a:r>
                        <a:t>(Databricks로 전환 완료된 핵심 모듈 개수 / 전체 핵심 모듈 개수) × 100</a:t>
                      </a:r>
                    </a:p>
                  </a:txBody>
                  <a:tcPr>
                    <a:solidFill>
                      <a:srgbClr val="2A2A4A"/>
                    </a:solidFill>
                  </a:tcPr>
                </a:tc>
                <a:tc>
                  <a:txBody>
                    <a:bodyPr/>
                    <a:lstStyle/>
                    <a:p>
                      <a:pPr>
                        <a:defRPr sz="1200">
                          <a:solidFill>
                            <a:srgbClr val="F7C548"/>
                          </a:solidFill>
                        </a:defRPr>
                      </a:pPr>
                      <a:r>
                        <a:t>100%</a:t>
                      </a:r>
                    </a:p>
                  </a:txBody>
                  <a:tcPr>
                    <a:solidFill>
                      <a:srgbClr val="2A2A4A"/>
                    </a:solidFill>
                  </a:tcPr>
                </a:tc>
                <a:tc>
                  <a:txBody>
                    <a:bodyPr/>
                    <a:lstStyle/>
                    <a:p>
                      <a:pPr>
                        <a:defRPr sz="1200">
                          <a:solidFill>
                            <a:srgbClr val="F0F0F0"/>
                          </a:solidFill>
                        </a:defRPr>
                      </a:pPr>
                      <a:r>
                        <a:t>개발 팀 마이그레이션 체크리스트, CI/CD 로그</a:t>
                      </a:r>
                    </a:p>
                  </a:txBody>
                  <a:tcPr>
                    <a:solidFill>
                      <a:srgbClr val="2A2A4A"/>
                    </a:solidFill>
                  </a:tcPr>
                </a:tc>
              </a:tr>
              <a:tr h="815340">
                <a:tc>
                  <a:txBody>
                    <a:bodyPr/>
                    <a:lstStyle/>
                    <a:p>
                      <a:pPr>
                        <a:defRPr sz="1200">
                          <a:solidFill>
                            <a:srgbClr val="F0F0F0"/>
                          </a:solidFill>
                        </a:defRPr>
                      </a:pPr>
                      <a:r>
                        <a:t>전체 파이프라인 마이그레이션율</a:t>
                      </a:r>
                    </a:p>
                  </a:txBody>
                  <a:tcPr>
                    <a:solidFill>
                      <a:srgbClr val="22223A"/>
                    </a:solidFill>
                  </a:tcPr>
                </a:tc>
                <a:tc>
                  <a:txBody>
                    <a:bodyPr/>
                    <a:lstStyle/>
                    <a:p>
                      <a:pPr>
                        <a:defRPr sz="1200">
                          <a:solidFill>
                            <a:srgbClr val="A8D8EA"/>
                          </a:solidFill>
                        </a:defRPr>
                      </a:pPr>
                      <a:r>
                        <a:t>(Databricks로 전환 완료된 전체 파이프라인 모듈 개수 / 전체 파이프라인 모듈 개수) × 100</a:t>
                      </a:r>
                    </a:p>
                  </a:txBody>
                  <a:tcPr>
                    <a:solidFill>
                      <a:srgbClr val="22223A"/>
                    </a:solidFill>
                  </a:tcPr>
                </a:tc>
                <a:tc>
                  <a:txBody>
                    <a:bodyPr/>
                    <a:lstStyle/>
                    <a:p>
                      <a:pPr>
                        <a:defRPr sz="1200">
                          <a:solidFill>
                            <a:srgbClr val="F7C548"/>
                          </a:solidFill>
                        </a:defRPr>
                      </a:pPr>
                      <a:r>
                        <a:t>50% 이상</a:t>
                      </a:r>
                    </a:p>
                  </a:txBody>
                  <a:tcPr>
                    <a:solidFill>
                      <a:srgbClr val="22223A"/>
                    </a:solidFill>
                  </a:tcPr>
                </a:tc>
                <a:tc>
                  <a:txBody>
                    <a:bodyPr/>
                    <a:lstStyle/>
                    <a:p>
                      <a:pPr>
                        <a:defRPr sz="1200">
                          <a:solidFill>
                            <a:srgbClr val="F0F0F0"/>
                          </a:solidFill>
                        </a:defRPr>
                      </a:pPr>
                      <a:r>
                        <a:t>개발 팀 마이그레이션 체크리스트, CI/CD 로그</a:t>
                      </a:r>
                    </a:p>
                  </a:txBody>
                  <a:tcPr>
                    <a:solidFill>
                      <a:srgbClr val="22223A"/>
                    </a:solidFill>
                  </a:tcPr>
                </a:tc>
              </a:tr>
              <a:tr h="815340">
                <a:tc>
                  <a:txBody>
                    <a:bodyPr/>
                    <a:lstStyle/>
                    <a:p>
                      <a:pPr>
                        <a:defRPr sz="1200">
                          <a:solidFill>
                            <a:srgbClr val="F0F0F0"/>
                          </a:solidFill>
                        </a:defRPr>
                      </a:pPr>
                      <a:r>
                        <a:t>콘텐츠 개선 사이클 횟수</a:t>
                      </a:r>
                    </a:p>
                  </a:txBody>
                  <a:tcPr>
                    <a:solidFill>
                      <a:srgbClr val="2A2A4A"/>
                    </a:solidFill>
                  </a:tcPr>
                </a:tc>
                <a:tc>
                  <a:txBody>
                    <a:bodyPr/>
                    <a:lstStyle/>
                    <a:p>
                      <a:pPr>
                        <a:defRPr sz="1200">
                          <a:solidFill>
                            <a:srgbClr val="A8D8EA"/>
                          </a:solidFill>
                        </a:defRPr>
                      </a:pPr>
                      <a:r>
                        <a:t>Q2 내 Help Center 콘텐츠 개선 및 배포 완료 횟수</a:t>
                      </a:r>
                    </a:p>
                  </a:txBody>
                  <a:tcPr>
                    <a:solidFill>
                      <a:srgbClr val="2A2A4A"/>
                    </a:solidFill>
                  </a:tcPr>
                </a:tc>
                <a:tc>
                  <a:txBody>
                    <a:bodyPr/>
                    <a:lstStyle/>
                    <a:p>
                      <a:pPr>
                        <a:defRPr sz="1200">
                          <a:solidFill>
                            <a:srgbClr val="F7C548"/>
                          </a:solidFill>
                        </a:defRPr>
                      </a:pPr>
                      <a:r>
                        <a:t>최소 3회</a:t>
                      </a:r>
                    </a:p>
                  </a:txBody>
                  <a:tcPr>
                    <a:solidFill>
                      <a:srgbClr val="2A2A4A"/>
                    </a:solidFill>
                  </a:tcPr>
                </a:tc>
                <a:tc>
                  <a:txBody>
                    <a:bodyPr/>
                    <a:lstStyle/>
                    <a:p>
                      <a:pPr>
                        <a:defRPr sz="1200">
                          <a:solidFill>
                            <a:srgbClr val="F0F0F0"/>
                          </a:solidFill>
                        </a:defRPr>
                      </a:pPr>
                      <a:r>
                        <a:t>Help Center 콘텐츠 관리 시스템, Jira/Trello</a:t>
                      </a:r>
                    </a:p>
                  </a:txBody>
                  <a:tcPr>
                    <a:solidFill>
                      <a:srgbClr val="2A2A4A"/>
                    </a:solidFill>
                  </a:tcPr>
                </a:tc>
              </a:tr>
            </a:tbl>
          </a:graphicData>
        </a:graphic>
      </p:graphicFrame>
      <p:sp>
        <p:nvSpPr>
          <p:cNvPr id="5" name="TextBox 4"/>
          <p:cNvSpPr txBox="1"/>
          <p:nvPr/>
        </p:nvSpPr>
        <p:spPr>
          <a:xfrm>
            <a:off x="11247120" y="6446520"/>
            <a:ext cx="822960" cy="274320"/>
          </a:xfrm>
          <a:prstGeom prst="rect">
            <a:avLst/>
          </a:prstGeom>
          <a:noFill/>
        </p:spPr>
        <p:txBody>
          <a:bodyPr wrap="none">
            <a:spAutoFit/>
          </a:bodyPr>
          <a:lstStyle/>
          <a:p>
            <a:pPr>
              <a:defRPr sz="1100">
                <a:solidFill>
                  <a:srgbClr val="888888"/>
                </a:solidFill>
              </a:defRPr>
            </a:pPr>
            <a: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